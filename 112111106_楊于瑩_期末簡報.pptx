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1300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3562B-2CA6-AC2E-4DCC-EAA4DD53E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64A16F-A6F4-34AB-BF59-29339DA7AD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D7D76F-11B8-FBA9-1765-6C6E8B17A1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這頁說明研究動機。同一本作品可以買電子書，也可以買實體特裝版。電子書主要解決閱讀與便利，實體特裝版則加入收藏與周邊。因此本研究不是只問哪個便宜，而是要分析價格背後的購買誘因。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11F1E0-9B41-F9CF-4976-E770BD543B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7539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這頁說明研究動機。同一本作品可以買電子書，也可以買實體特裝版。電子書主要解決閱讀與便利，實體特裝版則加入收藏與周邊。因此本研究不是只問哪個便宜，而是要分析價格背後的購買誘因。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期中是以日漫和BOOKWALKER活動價為主，重點在折扣率。期末改成日漫加小說，並且使用電子書標示價格，避免活動折扣造成偏差。資料總共75筆，這讓研究從活動分析升級成版本價值分析。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研究方法分成資料整理和Power BI視覺化。Excel先整理作品類型、價格、出版社、特典類型，再用公式計算價差、價差倍率與便宜比例。Power BI主要輸出六張圖，用來比較日漫與小說的差異。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這兩張圖是核心結果。平均價差部分，小說約796.88元，日漫約155.10元。價差倍率部分，小說約3.22倍，日漫約2.83倍。代表小說特裝版不只是貴一點，而是有更明顯的收藏與周邊價值。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Top10圖表顯示價差最高的作品大多是小說豪華特裝版。這支持前面平均價差的結論，也說明高價差不是因為閱讀內容不同，而是實體商品包含更多收藏周邊。日漫也有特殊高價案例，例如咒術迴戰26。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購買誘因分類顯示收藏向占77.33%，實用向與內容補充向相對較低。這表示實體特裝與限定版的主要賣點不是功能性，而是收藏與限定感。這也解釋為什麼實體版可以比電子書貴很多。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出版社平均價差可以看出不同出版策略。在樣本中，小說出版社的平均價差比較高，可能與豪華套組、雙書組合、多項周邊有關。但這裡要保守說明，因為各出版社筆數不同，所以只能說在本研究樣本中。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這張取代散佈圖，用群組直條圖呈現特典件數與平均價差。大致可以看到特典件數增加時，平均價差也會升高。不過還要補充，價差不是只由件數決定，也和特典材質、套組規模以及出版社定價有關。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最後總結：電子書和實體特裝版不是完全互相取代。電子書代表低閱讀成本和便利性；實體特裝版代表收藏與限定價值。透過Power BI，可以看出小說與日漫在價差、誘因、出版社策略上的差異。未來可以加入韓漫或問卷。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73A55-5CE1-232C-23CE-ABB586833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ADC7B4-1BB6-2177-A77E-A88DACBCFE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16713D-CD5D-7745-6D2D-511664141A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最後總結：電子書和實體特裝版不是完全互相取代。電子書代表低閱讀成本和便利性；實體特裝版代表收藏與限定價值。透過Power BI，可以看出小說與日漫在價差、誘因、出版社策略上的差異。未來可以加入韓漫或問卷。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F8A717-8841-BD42-98D4-EF1291B80F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7134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27571E-0152-BB83-5942-D92E8370D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10">
            <a:extLst>
              <a:ext uri="{FF2B5EF4-FFF2-40B4-BE49-F238E27FC236}">
                <a16:creationId xmlns:a16="http://schemas.microsoft.com/office/drawing/2014/main" id="{3D9D2559-37E5-DCB9-8766-98F239419156}"/>
              </a:ext>
            </a:extLst>
          </p:cNvPr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+mj-lt"/>
                <a:ea typeface="Microsoft JhengHei" pitchFamily="34" charset="-122"/>
                <a:cs typeface="Microsoft JhengHei" pitchFamily="34" charset="-120"/>
              </a:rPr>
              <a:t>112111106 楊于瑩｜商業智慧期末報告</a:t>
            </a:r>
            <a:endParaRPr lang="en-US" sz="850" dirty="0">
              <a:latin typeface="+mj-lt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EB40EF6-29A9-4317-F9F3-7A965EFB2EEC}"/>
              </a:ext>
            </a:extLst>
          </p:cNvPr>
          <p:cNvSpPr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+mj-lt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900" dirty="0">
              <a:latin typeface="+mj-lt"/>
            </a:endParaRPr>
          </a:p>
        </p:txBody>
      </p:sp>
      <p:sp>
        <p:nvSpPr>
          <p:cNvPr id="17" name="Text 0">
            <a:extLst>
              <a:ext uri="{FF2B5EF4-FFF2-40B4-BE49-F238E27FC236}">
                <a16:creationId xmlns:a16="http://schemas.microsoft.com/office/drawing/2014/main" id="{B81F545C-FA21-0A46-3006-6528CC20F5C6}"/>
              </a:ext>
            </a:extLst>
          </p:cNvPr>
          <p:cNvSpPr/>
          <p:nvPr/>
        </p:nvSpPr>
        <p:spPr>
          <a:xfrm>
            <a:off x="594360" y="1141621"/>
            <a:ext cx="87221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 err="1">
                <a:solidFill>
                  <a:srgbClr val="172A3A"/>
                </a:solidFill>
                <a:latin typeface="+mj-lt"/>
                <a:ea typeface="Microsoft JhengHei" pitchFamily="34" charset="-122"/>
                <a:cs typeface="Microsoft JhengHei" pitchFamily="34" charset="-120"/>
              </a:rPr>
              <a:t>實體特裝版與電子書價格</a:t>
            </a:r>
            <a:endParaRPr lang="en-US" sz="4000" b="1" dirty="0">
              <a:solidFill>
                <a:srgbClr val="172A3A"/>
              </a:solidFill>
              <a:latin typeface="+mj-lt"/>
              <a:ea typeface="Microsoft JhengHei" pitchFamily="34" charset="-122"/>
              <a:cs typeface="Microsoft JhengHei" pitchFamily="34" charset="-120"/>
            </a:endParaRPr>
          </a:p>
          <a:p>
            <a:pPr marL="0" indent="0">
              <a:buNone/>
            </a:pPr>
            <a:r>
              <a:rPr lang="en-US" sz="4000" b="1" dirty="0" err="1">
                <a:solidFill>
                  <a:srgbClr val="172A3A"/>
                </a:solidFill>
                <a:latin typeface="+mj-lt"/>
                <a:ea typeface="Microsoft JhengHei" pitchFamily="34" charset="-122"/>
                <a:cs typeface="Microsoft JhengHei" pitchFamily="34" charset="-120"/>
              </a:rPr>
              <a:t>差異之商業智慧分析</a:t>
            </a:r>
            <a:endParaRPr lang="en-US" sz="3400" dirty="0">
              <a:latin typeface="+mj-lt"/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66CF8446-50EC-5E7D-4FFE-EA0B83DCCF65}"/>
              </a:ext>
            </a:extLst>
          </p:cNvPr>
          <p:cNvSpPr/>
          <p:nvPr/>
        </p:nvSpPr>
        <p:spPr>
          <a:xfrm>
            <a:off x="621792" y="2990263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45535"/>
                </a:solidFill>
                <a:latin typeface="+mj-lt"/>
                <a:ea typeface="Microsoft JhengHei" pitchFamily="34" charset="-122"/>
                <a:cs typeface="Microsoft JhengHei" pitchFamily="34" charset="-120"/>
              </a:rPr>
              <a:t>以日漫與小說作品為例</a:t>
            </a:r>
            <a:endParaRPr lang="en-US" sz="1800" dirty="0">
              <a:latin typeface="+mj-lt"/>
            </a:endParaRPr>
          </a:p>
        </p:txBody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26639446-9BDA-BC90-974D-EFC7ED918491}"/>
              </a:ext>
            </a:extLst>
          </p:cNvPr>
          <p:cNvSpPr/>
          <p:nvPr/>
        </p:nvSpPr>
        <p:spPr>
          <a:xfrm>
            <a:off x="621792" y="3447463"/>
            <a:ext cx="2560320" cy="0"/>
          </a:xfrm>
          <a:prstGeom prst="line">
            <a:avLst/>
          </a:prstGeom>
          <a:noFill/>
          <a:ln w="50800">
            <a:solidFill>
              <a:srgbClr val="DFA62B"/>
            </a:solidFill>
            <a:prstDash val="solid"/>
          </a:ln>
        </p:spPr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D5A18FEB-505A-E15C-6143-B30F5916F642}"/>
              </a:ext>
            </a:extLst>
          </p:cNvPr>
          <p:cNvSpPr/>
          <p:nvPr/>
        </p:nvSpPr>
        <p:spPr>
          <a:xfrm>
            <a:off x="621792" y="38862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A3A"/>
                </a:solidFill>
                <a:latin typeface="+mj-lt"/>
                <a:ea typeface="Microsoft JhengHei" pitchFamily="34" charset="-122"/>
                <a:cs typeface="Microsoft JhengHei" pitchFamily="34" charset="-120"/>
              </a:rPr>
              <a:t>資管3A 112111106 楊于瑩</a:t>
            </a:r>
            <a:endParaRPr lang="en-US" sz="1400" dirty="0">
              <a:latin typeface="+mj-lt"/>
            </a:endParaRPr>
          </a:p>
          <a:p>
            <a:pPr marL="0" indent="0">
              <a:buNone/>
            </a:pPr>
            <a:r>
              <a:rPr lang="en-US" sz="1400" dirty="0" err="1">
                <a:solidFill>
                  <a:srgbClr val="172A3A"/>
                </a:solidFill>
                <a:latin typeface="+mj-lt"/>
                <a:ea typeface="Microsoft JhengHei" pitchFamily="34" charset="-122"/>
                <a:cs typeface="Microsoft JhengHei" pitchFamily="34" charset="-120"/>
              </a:rPr>
              <a:t>商業智慧期末報告</a:t>
            </a:r>
            <a:endParaRPr lang="en-US" sz="1400" dirty="0">
              <a:latin typeface="+mj-lt"/>
            </a:endParaRPr>
          </a:p>
        </p:txBody>
      </p:sp>
      <p:pic>
        <p:nvPicPr>
          <p:cNvPr id="22" name="圖片 21" descr="桌上打開的書和筆">
            <a:extLst>
              <a:ext uri="{FF2B5EF4-FFF2-40B4-BE49-F238E27FC236}">
                <a16:creationId xmlns:a16="http://schemas.microsoft.com/office/drawing/2014/main" id="{052F5C83-E740-6435-B136-5D985BCDAA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9236" y="2649000"/>
            <a:ext cx="5383604" cy="3580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016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F24A4CA9-1DE7-A40F-B7E1-1FC49E12EA26}"/>
              </a:ext>
            </a:extLst>
          </p:cNvPr>
          <p:cNvSpPr/>
          <p:nvPr/>
        </p:nvSpPr>
        <p:spPr>
          <a:xfrm>
            <a:off x="2521329" y="4843901"/>
            <a:ext cx="8382460" cy="1035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B22217E-0A9A-A657-17CD-B462DACB07C8}"/>
              </a:ext>
            </a:extLst>
          </p:cNvPr>
          <p:cNvSpPr/>
          <p:nvPr/>
        </p:nvSpPr>
        <p:spPr>
          <a:xfrm>
            <a:off x="6837297" y="1581046"/>
            <a:ext cx="4315968" cy="254461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45FD946-2090-BE9A-339A-036D9C3B2BA4}"/>
              </a:ext>
            </a:extLst>
          </p:cNvPr>
          <p:cNvSpPr/>
          <p:nvPr/>
        </p:nvSpPr>
        <p:spPr>
          <a:xfrm>
            <a:off x="652273" y="1581046"/>
            <a:ext cx="4315968" cy="254461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Text 0"/>
          <p:cNvSpPr/>
          <p:nvPr/>
        </p:nvSpPr>
        <p:spPr>
          <a:xfrm>
            <a:off x="502920" y="463063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研究動機：同一本作品，讀者買的是什麼？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938551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6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電子書重視便利與價格；實體特裝版重視收藏與限定感。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276879"/>
            <a:ext cx="2011680" cy="0"/>
          </a:xfrm>
          <a:prstGeom prst="line">
            <a:avLst/>
          </a:prstGeom>
          <a:noFill/>
          <a:ln w="38100">
            <a:solidFill>
              <a:srgbClr val="DFA6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15791"/>
            <a:ext cx="2011680" cy="50292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rgbClr val="E9F4FA">
                <a:alpha val="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2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電子書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383303"/>
            <a:ext cx="3931920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800" dirty="0">
                <a:solidFill>
                  <a:srgbClr val="172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即時取得、不占空間</a:t>
            </a:r>
            <a:endParaRPr lang="en-US" sz="1800" dirty="0"/>
          </a:p>
          <a:p>
            <a:r>
              <a:rPr lang="en-US" sz="1800" dirty="0">
                <a:solidFill>
                  <a:srgbClr val="172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價格較低、保存成本低</a:t>
            </a:r>
            <a:endParaRPr lang="en-US" sz="1800" dirty="0"/>
          </a:p>
          <a:p>
            <a:r>
              <a:rPr lang="en-US" sz="1800" dirty="0">
                <a:solidFill>
                  <a:srgbClr val="172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適合重視閱讀內容的讀者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32320" y="1715791"/>
            <a:ext cx="2926080" cy="502920"/>
          </a:xfrm>
          <a:prstGeom prst="rect">
            <a:avLst/>
          </a:prstGeom>
          <a:solidFill>
            <a:srgbClr val="FFF0D3"/>
          </a:solidFill>
          <a:ln>
            <a:solidFill>
              <a:srgbClr val="FFF0D3">
                <a:alpha val="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2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實體特裝／限定版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223760" y="2383303"/>
            <a:ext cx="4114800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800" dirty="0">
                <a:solidFill>
                  <a:srgbClr val="172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包含收藏盒、壓克力、卡片等特典</a:t>
            </a:r>
            <a:endParaRPr lang="en-US" sz="1800" dirty="0"/>
          </a:p>
          <a:p>
            <a:r>
              <a:rPr lang="en-US" sz="1800" dirty="0">
                <a:solidFill>
                  <a:srgbClr val="172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具有展示與收藏價值</a:t>
            </a:r>
            <a:endParaRPr lang="en-US" sz="1800" dirty="0"/>
          </a:p>
          <a:p>
            <a:r>
              <a:rPr lang="en-US" sz="1800" dirty="0">
                <a:solidFill>
                  <a:srgbClr val="172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適合重視限定感的讀者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166360" y="2813071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455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68680" y="5193101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研究焦點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71800" y="5119949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72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將「價格差異」轉換成可分析指標，判斷實體收藏價值如何影響商品定位。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112111106 楊于瑩｜商業智慧期末報告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FAC7B90C-AA3D-58C2-BA9F-B0493400E51C}"/>
              </a:ext>
            </a:extLst>
          </p:cNvPr>
          <p:cNvSpPr/>
          <p:nvPr/>
        </p:nvSpPr>
        <p:spPr>
          <a:xfrm>
            <a:off x="4513340" y="1611673"/>
            <a:ext cx="3891548" cy="255246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40ADD71-B95A-0730-11C0-B07E12326CD2}"/>
              </a:ext>
            </a:extLst>
          </p:cNvPr>
          <p:cNvSpPr/>
          <p:nvPr/>
        </p:nvSpPr>
        <p:spPr>
          <a:xfrm>
            <a:off x="438912" y="1628668"/>
            <a:ext cx="3891548" cy="253547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Text 0"/>
          <p:cNvSpPr/>
          <p:nvPr/>
        </p:nvSpPr>
        <p:spPr>
          <a:xfrm>
            <a:off x="502920" y="652846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期中到期末的延伸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112833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6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從「活動折扣」延伸到「電子書標示價格 vs 實體收藏價值」。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466662"/>
            <a:ext cx="2011680" cy="0"/>
          </a:xfrm>
          <a:prstGeom prst="line">
            <a:avLst/>
          </a:prstGeom>
          <a:noFill/>
          <a:ln w="38100">
            <a:solidFill>
              <a:srgbClr val="DFA6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0557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期中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298766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2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日漫 50 筆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72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BOOK☆WALKER 活動價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72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折扣率與價差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54880" y="190557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期末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754880" y="2298766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2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日漫 50 筆 + 小說 25 筆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72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改用電子書標示價格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72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分析價差倍率與收藏誘因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372600" y="1676974"/>
            <a:ext cx="2011680" cy="2423160"/>
          </a:xfrm>
          <a:prstGeom prst="roundRect">
            <a:avLst>
              <a:gd name="adj" fmla="val 3636"/>
            </a:avLst>
          </a:prstGeom>
          <a:solidFill>
            <a:srgbClr val="172A3A"/>
          </a:solidFill>
          <a:ln w="12700">
            <a:solidFill>
              <a:srgbClr val="172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46920" y="2088454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75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9555480" y="272853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筆商品資料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00032" y="334118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7D1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日漫 50｜小說 25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14400" y="519741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455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期末強化重點：不再只看促銷活動，而是比較日常電子閱讀成本與實體特裝收藏價值。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112111106 楊于瑩｜商業智慧期末報告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7679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A3A"/>
                </a:solidFill>
                <a:latin typeface="+mj-lt"/>
                <a:ea typeface="Microsoft JhengHei" pitchFamily="34" charset="-122"/>
                <a:cs typeface="Microsoft JhengHei" pitchFamily="34" charset="-120"/>
              </a:rPr>
              <a:t>資料來源與分析指標</a:t>
            </a:r>
            <a:endParaRPr lang="en-US" sz="2800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530352" y="852286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670"/>
                </a:solidFill>
                <a:latin typeface="+mj-lt"/>
                <a:ea typeface="Microsoft JhengHei" pitchFamily="34" charset="-122"/>
                <a:cs typeface="Microsoft JhengHei" pitchFamily="34" charset="-120"/>
              </a:rPr>
              <a:t>Excel 整理資料，Power BI 轉換成視覺化分析。</a:t>
            </a:r>
            <a:endParaRPr lang="en-US" sz="1250" dirty="0">
              <a:latin typeface="+mj-lt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30352" y="1190614"/>
            <a:ext cx="2011680" cy="0"/>
          </a:xfrm>
          <a:prstGeom prst="line">
            <a:avLst/>
          </a:prstGeom>
          <a:noFill/>
          <a:ln w="38100">
            <a:solidFill>
              <a:srgbClr val="DFA62B"/>
            </a:solidFill>
            <a:prstDash val="solid"/>
          </a:ln>
        </p:spPr>
      </p:sp>
      <p:pic>
        <p:nvPicPr>
          <p:cNvPr id="5" name="Image 0" descr="/mnt/data/a_clean_infographic_style_digital_illustration_sho_batch_2.png"/>
          <p:cNvPicPr>
            <a:picLocks noChangeAspect="1"/>
          </p:cNvPicPr>
          <p:nvPr/>
        </p:nvPicPr>
        <p:blipFill>
          <a:blip r:embed="rId3"/>
          <a:srcRect l="2847" r="2847"/>
          <a:stretch/>
        </p:blipFill>
        <p:spPr>
          <a:xfrm>
            <a:off x="365760" y="1446646"/>
            <a:ext cx="5669280" cy="3383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73330" y="135520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A3A"/>
                </a:solidFill>
                <a:latin typeface="+mj-lt"/>
                <a:ea typeface="Microsoft JhengHei" pitchFamily="34" charset="-122"/>
                <a:cs typeface="Microsoft JhengHei" pitchFamily="34" charset="-120"/>
              </a:rPr>
              <a:t>主要指標</a:t>
            </a:r>
            <a:endParaRPr lang="en-US" sz="2200" dirty="0">
              <a:latin typeface="+mj-lt"/>
            </a:endParaRPr>
          </a:p>
        </p:txBody>
      </p:sp>
      <p:sp>
        <p:nvSpPr>
          <p:cNvPr id="7" name="Text 4"/>
          <p:cNvSpPr/>
          <p:nvPr/>
        </p:nvSpPr>
        <p:spPr>
          <a:xfrm>
            <a:off x="6619050" y="1903846"/>
            <a:ext cx="5120640" cy="2057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72A3A"/>
                </a:solidFill>
                <a:latin typeface="+mj-lt"/>
                <a:ea typeface="Microsoft JhengHei" pitchFamily="34" charset="-122"/>
                <a:cs typeface="Microsoft JhengHei" pitchFamily="34" charset="-120"/>
              </a:rPr>
              <a:t>價差 = 實體特裝／限定版價格 − </a:t>
            </a:r>
            <a:r>
              <a:rPr lang="en-US" sz="1700" dirty="0" err="1">
                <a:solidFill>
                  <a:srgbClr val="172A3A"/>
                </a:solidFill>
                <a:latin typeface="+mj-lt"/>
                <a:ea typeface="Microsoft JhengHei" pitchFamily="34" charset="-122"/>
                <a:cs typeface="Microsoft JhengHei" pitchFamily="34" charset="-120"/>
              </a:rPr>
              <a:t>電子書價格</a:t>
            </a:r>
            <a:endParaRPr lang="en-US" sz="1700" dirty="0">
              <a:latin typeface="+mj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 err="1">
                <a:solidFill>
                  <a:srgbClr val="172A3A"/>
                </a:solidFill>
                <a:latin typeface="+mj-lt"/>
                <a:ea typeface="Microsoft JhengHei" pitchFamily="34" charset="-122"/>
                <a:cs typeface="Microsoft JhengHei" pitchFamily="34" charset="-120"/>
              </a:rPr>
              <a:t>價差倍率</a:t>
            </a:r>
            <a:r>
              <a:rPr lang="en-US" sz="1700" dirty="0">
                <a:solidFill>
                  <a:srgbClr val="172A3A"/>
                </a:solidFill>
                <a:latin typeface="+mj-lt"/>
                <a:ea typeface="Microsoft JhengHei" pitchFamily="34" charset="-122"/>
                <a:cs typeface="Microsoft JhengHei" pitchFamily="34" charset="-120"/>
              </a:rPr>
              <a:t> = 實體價格 ÷ </a:t>
            </a:r>
            <a:r>
              <a:rPr lang="en-US" sz="1700" dirty="0" err="1">
                <a:solidFill>
                  <a:srgbClr val="172A3A"/>
                </a:solidFill>
                <a:latin typeface="+mj-lt"/>
                <a:ea typeface="Microsoft JhengHei" pitchFamily="34" charset="-122"/>
                <a:cs typeface="Microsoft JhengHei" pitchFamily="34" charset="-120"/>
              </a:rPr>
              <a:t>電子書價格</a:t>
            </a:r>
            <a:endParaRPr lang="en-US" sz="1700" dirty="0">
              <a:latin typeface="+mj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 err="1">
                <a:solidFill>
                  <a:srgbClr val="172A3A"/>
                </a:solidFill>
                <a:latin typeface="+mj-lt"/>
                <a:ea typeface="Microsoft JhengHei" pitchFamily="34" charset="-122"/>
                <a:cs typeface="Microsoft JhengHei" pitchFamily="34" charset="-120"/>
              </a:rPr>
              <a:t>電子書相對便宜比例</a:t>
            </a:r>
            <a:r>
              <a:rPr lang="en-US" sz="1700" dirty="0">
                <a:solidFill>
                  <a:srgbClr val="172A3A"/>
                </a:solidFill>
                <a:latin typeface="+mj-lt"/>
                <a:ea typeface="Microsoft JhengHei" pitchFamily="34" charset="-122"/>
                <a:cs typeface="Microsoft JhengHei" pitchFamily="34" charset="-120"/>
              </a:rPr>
              <a:t> = 價差 ÷ </a:t>
            </a:r>
            <a:r>
              <a:rPr lang="en-US" sz="1700" dirty="0" err="1">
                <a:solidFill>
                  <a:srgbClr val="172A3A"/>
                </a:solidFill>
                <a:latin typeface="+mj-lt"/>
                <a:ea typeface="Microsoft JhengHei" pitchFamily="34" charset="-122"/>
                <a:cs typeface="Microsoft JhengHei" pitchFamily="34" charset="-120"/>
              </a:rPr>
              <a:t>實體價格</a:t>
            </a:r>
            <a:endParaRPr lang="en-US" sz="1700" dirty="0">
              <a:latin typeface="+mj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 err="1">
                <a:solidFill>
                  <a:srgbClr val="172A3A"/>
                </a:solidFill>
                <a:latin typeface="+mj-lt"/>
                <a:ea typeface="Microsoft JhengHei" pitchFamily="34" charset="-122"/>
                <a:cs typeface="Microsoft JhengHei" pitchFamily="34" charset="-120"/>
              </a:rPr>
              <a:t>購買誘因分類：收藏向、實用向、內容補充向</a:t>
            </a:r>
            <a:endParaRPr lang="en-US" sz="1700" dirty="0">
              <a:latin typeface="+mj-lt"/>
            </a:endParaRPr>
          </a:p>
        </p:txBody>
      </p:sp>
      <p:sp>
        <p:nvSpPr>
          <p:cNvPr id="8" name="Text 5"/>
          <p:cNvSpPr/>
          <p:nvPr/>
        </p:nvSpPr>
        <p:spPr>
          <a:xfrm>
            <a:off x="6194918" y="485235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45535"/>
                </a:solidFill>
                <a:latin typeface="+mj-lt"/>
                <a:ea typeface="Microsoft JhengHei" pitchFamily="34" charset="-122"/>
                <a:cs typeface="Microsoft JhengHei" pitchFamily="34" charset="-120"/>
              </a:rPr>
              <a:t>Power BI 實作輸出</a:t>
            </a:r>
            <a:endParaRPr lang="en-US" sz="1800" dirty="0">
              <a:latin typeface="+mj-lt"/>
            </a:endParaRPr>
          </a:p>
        </p:txBody>
      </p:sp>
      <p:sp>
        <p:nvSpPr>
          <p:cNvPr id="9" name="Text 6"/>
          <p:cNvSpPr/>
          <p:nvPr/>
        </p:nvSpPr>
        <p:spPr>
          <a:xfrm>
            <a:off x="6217920" y="5281432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A3A"/>
                </a:solidFill>
                <a:latin typeface="+mj-lt"/>
                <a:ea typeface="Microsoft JhengHei" pitchFamily="34" charset="-122"/>
                <a:cs typeface="Microsoft JhengHei" pitchFamily="34" charset="-120"/>
              </a:rPr>
              <a:t>平均價差｜價差倍率｜Top 10｜誘因分類｜出版社比較｜特典件數</a:t>
            </a:r>
            <a:endParaRPr lang="en-US" sz="1500" dirty="0">
              <a:latin typeface="+mj-lt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+mj-lt"/>
                <a:ea typeface="Microsoft JhengHei" pitchFamily="34" charset="-122"/>
                <a:cs typeface="Microsoft JhengHei" pitchFamily="34" charset="-120"/>
              </a:rPr>
              <a:t>112111106 楊于瑩｜商業智慧期末報告</a:t>
            </a:r>
            <a:endParaRPr lang="en-US" sz="850" dirty="0">
              <a:latin typeface="+mj-lt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+mj-lt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900" dirty="0">
              <a:latin typeface="+mj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核心發現①：小說特裝版的平均價差更高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3152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6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平均價差與價差倍率都顯示小說特裝版具有較明顯收藏溢價。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069848"/>
            <a:ext cx="2011680" cy="0"/>
          </a:xfrm>
          <a:prstGeom prst="line">
            <a:avLst/>
          </a:prstGeom>
          <a:noFill/>
          <a:ln w="38100">
            <a:solidFill>
              <a:srgbClr val="DFA6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34440"/>
            <a:ext cx="5486400" cy="4389120"/>
          </a:xfrm>
          <a:prstGeom prst="roundRect">
            <a:avLst>
              <a:gd name="adj" fmla="val 1042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355080" y="1258939"/>
            <a:ext cx="5257800" cy="4389120"/>
          </a:xfrm>
          <a:prstGeom prst="roundRect">
            <a:avLst>
              <a:gd name="adj" fmla="val 1042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85800" y="580644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455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重點：小說平均價差約 796.88 元，日漫約 155.10 元；倍率也由小說較高。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112111106 楊于瑩｜商業智慧期末報告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900" dirty="0"/>
          </a:p>
        </p:txBody>
      </p:sp>
      <p:pic>
        <p:nvPicPr>
          <p:cNvPr id="1027" name="圖片 1">
            <a:extLst>
              <a:ext uri="{FF2B5EF4-FFF2-40B4-BE49-F238E27FC236}">
                <a16:creationId xmlns:a16="http://schemas.microsoft.com/office/drawing/2014/main" id="{A69EF2CF-2B4C-E5AA-300C-7D3F4B784A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13"/>
          <a:stretch>
            <a:fillRect/>
          </a:stretch>
        </p:blipFill>
        <p:spPr bwMode="auto">
          <a:xfrm>
            <a:off x="685800" y="1290510"/>
            <a:ext cx="5206042" cy="4276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圖片 1">
            <a:extLst>
              <a:ext uri="{FF2B5EF4-FFF2-40B4-BE49-F238E27FC236}">
                <a16:creationId xmlns:a16="http://schemas.microsoft.com/office/drawing/2014/main" id="{6616A48C-5C0B-DEE3-7C1E-B32FC68425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201"/>
          <a:stretch>
            <a:fillRect/>
          </a:stretch>
        </p:blipFill>
        <p:spPr bwMode="auto">
          <a:xfrm>
            <a:off x="6433031" y="1389888"/>
            <a:ext cx="5179849" cy="413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核心發現②：高價差作品多集中在小說豪華特裝版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3152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6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價差 Top 10 可直接看出高收藏套組的影響。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069848"/>
            <a:ext cx="2011680" cy="0"/>
          </a:xfrm>
          <a:prstGeom prst="line">
            <a:avLst/>
          </a:prstGeom>
          <a:noFill/>
          <a:ln w="38100">
            <a:solidFill>
              <a:srgbClr val="DFA6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19" y="1170432"/>
            <a:ext cx="7588657" cy="4892040"/>
          </a:xfrm>
          <a:prstGeom prst="roundRect">
            <a:avLst>
              <a:gd name="adj" fmla="val 935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Top 10 觀察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275320" y="1920240"/>
            <a:ext cx="329184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700" dirty="0">
                <a:solidFill>
                  <a:srgbClr val="172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前十名大多為小說豪華特裝版</a:t>
            </a:r>
            <a:endParaRPr lang="en-US" sz="1700" dirty="0"/>
          </a:p>
          <a:p>
            <a:r>
              <a:rPr lang="en-US" sz="1700" dirty="0">
                <a:solidFill>
                  <a:srgbClr val="172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部分價差超過 1500 元</a:t>
            </a:r>
            <a:endParaRPr lang="en-US" sz="1700" dirty="0"/>
          </a:p>
          <a:p>
            <a:r>
              <a:rPr lang="en-US" sz="1700" dirty="0">
                <a:solidFill>
                  <a:srgbClr val="172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日漫《咒術迴戰（26）》為少數高價差日漫案例</a:t>
            </a:r>
            <a:endParaRPr lang="en-US" sz="1700" dirty="0"/>
          </a:p>
          <a:p>
            <a:r>
              <a:rPr lang="en-US" sz="1700" dirty="0">
                <a:solidFill>
                  <a:srgbClr val="172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高價差主要來自套組、壓克力、收藏盒與周邊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112111106 楊于瑩｜商業智慧期末報告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900" dirty="0"/>
          </a:p>
        </p:txBody>
      </p:sp>
      <p:pic>
        <p:nvPicPr>
          <p:cNvPr id="2050" name="圖片 1">
            <a:extLst>
              <a:ext uri="{FF2B5EF4-FFF2-40B4-BE49-F238E27FC236}">
                <a16:creationId xmlns:a16="http://schemas.microsoft.com/office/drawing/2014/main" id="{2AFDA4AE-14ED-51E7-FD4B-9FB8FF5CE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678" y="1490472"/>
            <a:ext cx="7473137" cy="418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50920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核心發現③：實體版主要購買誘因是收藏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2640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6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收藏向商品占 77.33%，實體特裝版更接近收藏型商品。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164736"/>
            <a:ext cx="2011680" cy="0"/>
          </a:xfrm>
          <a:prstGeom prst="line">
            <a:avLst/>
          </a:prstGeom>
          <a:noFill/>
          <a:ln w="38100">
            <a:solidFill>
              <a:srgbClr val="DFA6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1714" y="1321564"/>
            <a:ext cx="6742928" cy="457200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7" name="Text 4"/>
          <p:cNvSpPr/>
          <p:nvPr/>
        </p:nvSpPr>
        <p:spPr>
          <a:xfrm>
            <a:off x="7429933" y="160364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62B9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77.33%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493941" y="23351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收藏向商品占比最高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521373" y="2975248"/>
            <a:ext cx="4251960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800" dirty="0">
                <a:solidFill>
                  <a:srgbClr val="172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收藏卡、角色卡、明信片</a:t>
            </a:r>
            <a:endParaRPr lang="en-US" sz="1800" dirty="0"/>
          </a:p>
          <a:p>
            <a:r>
              <a:rPr lang="en-US" sz="1800" dirty="0">
                <a:solidFill>
                  <a:srgbClr val="172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壓克力、立牌、收藏盒</a:t>
            </a:r>
            <a:endParaRPr lang="en-US" sz="1800" dirty="0"/>
          </a:p>
          <a:p>
            <a:r>
              <a:rPr lang="en-US" sz="1800" dirty="0">
                <a:solidFill>
                  <a:srgbClr val="172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屏風、海報與周邊套組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475653" y="480404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B455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電子書滿足閱讀需求；實體特裝版滿足收藏與限定感。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112111106 楊于瑩｜商業智慧期末報告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900" dirty="0"/>
          </a:p>
        </p:txBody>
      </p:sp>
      <p:pic>
        <p:nvPicPr>
          <p:cNvPr id="3075" name="圖片 1">
            <a:extLst>
              <a:ext uri="{FF2B5EF4-FFF2-40B4-BE49-F238E27FC236}">
                <a16:creationId xmlns:a16="http://schemas.microsoft.com/office/drawing/2014/main" id="{2B53BC59-7634-5567-A99F-E41D744C79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4"/>
          <a:stretch>
            <a:fillRect/>
          </a:stretch>
        </p:blipFill>
        <p:spPr bwMode="auto">
          <a:xfrm>
            <a:off x="591584" y="1520463"/>
            <a:ext cx="6563187" cy="4112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核心發現④：出版社策略影響平均價差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3152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6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在本研究樣本中，小說出版社平均價差普遍較高。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069848"/>
            <a:ext cx="2011680" cy="0"/>
          </a:xfrm>
          <a:prstGeom prst="line">
            <a:avLst/>
          </a:prstGeom>
          <a:noFill/>
          <a:ln w="38100">
            <a:solidFill>
              <a:srgbClr val="DFA6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34440"/>
            <a:ext cx="7406640" cy="4892040"/>
          </a:xfrm>
          <a:prstGeom prst="roundRect">
            <a:avLst>
              <a:gd name="adj" fmla="val 935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02752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解讀方式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302752" y="1920240"/>
            <a:ext cx="3429000" cy="2743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700" dirty="0">
                <a:solidFill>
                  <a:srgbClr val="172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深空、平心、知翎等小說出版社價差較高</a:t>
            </a:r>
            <a:endParaRPr lang="en-US" sz="1700" dirty="0"/>
          </a:p>
          <a:p>
            <a:r>
              <a:rPr lang="en-US" sz="1700" dirty="0">
                <a:solidFill>
                  <a:srgbClr val="172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日漫出版社多以書卡、小冊子等輕量特典為主</a:t>
            </a:r>
            <a:endParaRPr lang="en-US" sz="1700" dirty="0"/>
          </a:p>
          <a:p>
            <a:r>
              <a:rPr lang="en-US" sz="1700" dirty="0">
                <a:solidFill>
                  <a:srgbClr val="172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注意：出版社樣本筆數不一致，結論以本研究樣本為準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112111106 楊于瑩｜商業智慧期末報告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900" dirty="0"/>
          </a:p>
        </p:txBody>
      </p:sp>
      <p:pic>
        <p:nvPicPr>
          <p:cNvPr id="4098" name="圖片 1">
            <a:extLst>
              <a:ext uri="{FF2B5EF4-FFF2-40B4-BE49-F238E27FC236}">
                <a16:creationId xmlns:a16="http://schemas.microsoft.com/office/drawing/2014/main" id="{6245E088-1EF3-E908-E2A7-C5846117D0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718"/>
          <a:stretch>
            <a:fillRect/>
          </a:stretch>
        </p:blipFill>
        <p:spPr bwMode="auto">
          <a:xfrm>
            <a:off x="673931" y="1389543"/>
            <a:ext cx="7281349" cy="4562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核心發現⑤：特典件數越多，平均價差通常越高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3152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6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特典數量不是唯一原因，但能作為價格差異的重要觀察指標。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069848"/>
            <a:ext cx="2011680" cy="0"/>
          </a:xfrm>
          <a:prstGeom prst="line">
            <a:avLst/>
          </a:prstGeom>
          <a:noFill/>
          <a:ln w="38100">
            <a:solidFill>
              <a:srgbClr val="DFA6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0732" y="1158872"/>
            <a:ext cx="7290183" cy="4967603"/>
          </a:xfrm>
          <a:prstGeom prst="roundRect">
            <a:avLst>
              <a:gd name="adj" fmla="val 935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0100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重點整理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028432" y="1920240"/>
            <a:ext cx="3611880" cy="3108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700" dirty="0">
                <a:solidFill>
                  <a:srgbClr val="172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1～2 件特典：價差通常較低</a:t>
            </a:r>
            <a:endParaRPr lang="en-US" sz="1700" dirty="0"/>
          </a:p>
          <a:p>
            <a:r>
              <a:rPr lang="en-US" sz="1700" dirty="0">
                <a:solidFill>
                  <a:srgbClr val="172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件以上：小說特裝版價差明顯提高</a:t>
            </a:r>
            <a:endParaRPr lang="en-US" sz="1700" dirty="0"/>
          </a:p>
          <a:p>
            <a:r>
              <a:rPr lang="en-US" sz="1700" dirty="0">
                <a:solidFill>
                  <a:srgbClr val="172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相同件數仍可能差異很大，表示材質、尺寸、套組規模也會影響定價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112111106 楊于瑩｜商業智慧期末報告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900" dirty="0"/>
          </a:p>
        </p:txBody>
      </p:sp>
      <p:pic>
        <p:nvPicPr>
          <p:cNvPr id="5122" name="圖片 1">
            <a:extLst>
              <a:ext uri="{FF2B5EF4-FFF2-40B4-BE49-F238E27FC236}">
                <a16:creationId xmlns:a16="http://schemas.microsoft.com/office/drawing/2014/main" id="{FDAC5816-1982-5972-6510-CEFE18D92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" y="1197865"/>
            <a:ext cx="7165808" cy="4848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結論：電子書與實體特裝版不是單純價格競爭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3152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6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兩者面向不同消費需求，也代表不同商品定位。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069848"/>
            <a:ext cx="2011680" cy="0"/>
          </a:xfrm>
          <a:prstGeom prst="line">
            <a:avLst/>
          </a:prstGeom>
          <a:noFill/>
          <a:ln w="38100">
            <a:solidFill>
              <a:srgbClr val="DFA6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三個結論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9966960" cy="804672"/>
          </a:xfrm>
          <a:prstGeom prst="rect">
            <a:avLst/>
          </a:prstGeom>
          <a:solidFill>
            <a:srgbClr val="E9F4FA"/>
          </a:solidFill>
          <a:ln w="12700">
            <a:solidFill>
              <a:srgbClr val="D8D0C4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2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電子書：</a:t>
            </a:r>
            <a:r>
              <a:rPr lang="en-US" sz="1800" dirty="0">
                <a:solidFill>
                  <a:srgbClr val="172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適合重視價格、便利、空間管理的讀者。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044952"/>
            <a:ext cx="9966960" cy="804672"/>
          </a:xfrm>
          <a:prstGeom prst="rect">
            <a:avLst/>
          </a:prstGeom>
          <a:solidFill>
            <a:srgbClr val="FFF0D3"/>
          </a:solidFill>
          <a:ln w="12700">
            <a:solidFill>
              <a:srgbClr val="D8D0C4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2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實體特裝版：</a:t>
            </a:r>
            <a:r>
              <a:rPr lang="en-US" sz="1800" dirty="0">
                <a:solidFill>
                  <a:srgbClr val="172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透過特典與限定感形成收藏價值。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123944"/>
            <a:ext cx="9966960" cy="804672"/>
          </a:xfrm>
          <a:prstGeom prst="rect">
            <a:avLst/>
          </a:prstGeom>
          <a:solidFill>
            <a:srgbClr val="E9F0E8"/>
          </a:solidFill>
          <a:ln w="12700">
            <a:solidFill>
              <a:srgbClr val="D8D0C4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2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商業智慧價值：</a:t>
            </a:r>
            <a:r>
              <a:rPr lang="en-US" sz="1800" dirty="0">
                <a:solidFill>
                  <a:srgbClr val="172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Power BI 能把商品價格與特典差異轉換為可判斷資訊。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5532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455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未來延伸：加入韓漫特裝版與電子平台資料，或搭配讀者問卷分析購買偏好。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112111106 楊于瑩｜商業智慧期末報告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4828E9-32EA-7105-EC35-40ECDBBDB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8">
            <a:extLst>
              <a:ext uri="{FF2B5EF4-FFF2-40B4-BE49-F238E27FC236}">
                <a16:creationId xmlns:a16="http://schemas.microsoft.com/office/drawing/2014/main" id="{7F4B6535-29CD-95ED-DB94-825A9BE3B0AC}"/>
              </a:ext>
            </a:extLst>
          </p:cNvPr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112111106 楊于瑩｜商業智慧期末報告</a:t>
            </a:r>
            <a:endParaRPr lang="en-US" sz="8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066C931-9F0B-F1B3-8AE1-D5B74D87DC51}"/>
              </a:ext>
            </a:extLst>
          </p:cNvPr>
          <p:cNvSpPr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900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49CC3181-10E5-B65D-7B54-62FDBCB9CB3F}"/>
              </a:ext>
            </a:extLst>
          </p:cNvPr>
          <p:cNvSpPr txBox="1"/>
          <p:nvPr/>
        </p:nvSpPr>
        <p:spPr>
          <a:xfrm>
            <a:off x="3549051" y="2828836"/>
            <a:ext cx="50938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7200" b="0" i="0" dirty="0">
                <a:effectLst/>
                <a:latin typeface="Bauhaus 93" panose="04030905020B02020C02" pitchFamily="82" charset="0"/>
              </a:rPr>
              <a:t>Thank you </a:t>
            </a:r>
            <a:endParaRPr lang="zh-TW" altLang="en-US" sz="7200" dirty="0"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7060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557</Words>
  <Application>Microsoft Office PowerPoint</Application>
  <PresentationFormat>寬螢幕</PresentationFormat>
  <Paragraphs>123</Paragraphs>
  <Slides>11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5" baseType="lpstr">
      <vt:lpstr>Microsoft JhengHei</vt:lpstr>
      <vt:lpstr>Arial</vt:lpstr>
      <vt:lpstr>Bauhaus 93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亞東科技大學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實體特裝版與電子書價格差異之商業智慧分析</dc:title>
  <dc:subject>商業智慧期末簡報</dc:subject>
  <dc:creator>112111106 楊于瑩</dc:creator>
  <cp:lastModifiedBy>于瑩 楊</cp:lastModifiedBy>
  <cp:revision>2</cp:revision>
  <dcterms:created xsi:type="dcterms:W3CDTF">2026-06-25T05:24:24Z</dcterms:created>
  <dcterms:modified xsi:type="dcterms:W3CDTF">2026-06-25T05:51:45Z</dcterms:modified>
</cp:coreProperties>
</file>